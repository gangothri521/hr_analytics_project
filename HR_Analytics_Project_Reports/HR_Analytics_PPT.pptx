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59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463040"/>
            <a:ext cx="4572000" cy="4572000"/>
          </a:xfrm>
          <a:prstGeom prst="ellipse">
            <a:avLst/>
          </a:prstGeom>
          <a:solidFill>
            <a:srgbClr val="145A63">
              <a:alpha val="45000"/>
            </a:srgbClr>
          </a:solidFill>
          <a:ln w="12700">
            <a:solidFill>
              <a:srgbClr val="145A6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566160"/>
            <a:ext cx="2926080" cy="2926080"/>
          </a:xfrm>
          <a:prstGeom prst="ellipse">
            <a:avLst/>
          </a:prstGeom>
          <a:solidFill>
            <a:srgbClr val="145A63">
              <a:alpha val="40000"/>
            </a:srgbClr>
          </a:solidFill>
          <a:ln w="12700">
            <a:solidFill>
              <a:srgbClr val="145A6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PRDA-03  ·  CAPSTONE PROJECT ANALYSIS REPORT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composition, diversity, hiring trends and attrition: a data-driven view for HR leadership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Gangothri M C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Team: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PTID-CDA-SEP-26-11268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01-10-2026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74920" y="1234440"/>
            <a:ext cx="3840480" cy="2248492"/>
          </a:xfrm>
          <a:prstGeom prst="roundRect">
            <a:avLst>
              <a:gd name="adj" fmla="val 488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wimg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325880"/>
            <a:ext cx="3657600" cy="2065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07008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Dataset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1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08760"/>
            <a:ext cx="384048" cy="384048"/>
          </a:xfrm>
          <a:prstGeom prst="ellipse">
            <a:avLst/>
          </a:prstGeom>
          <a:solidFill>
            <a:srgbClr val="F4A34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000" y="1508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103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examines the organisation’s HR dataset to assess workforce composition, diversity, hiring patterns and employee attrition.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purpose is to give HR leadership clear, evidence-based findings and practical recommendations.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4612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0E3B4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29000" y="1508760"/>
            <a:ext cx="384048" cy="384048"/>
          </a:xfrm>
          <a:prstGeom prst="ellipse">
            <a:avLst/>
          </a:prstGeom>
          <a:solidFill>
            <a:srgbClr val="F4A34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60020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931920" y="1508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22,214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3474720" y="2542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47472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MySQL database (project_hr_analytics), table HR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347472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ID, name, birthdate, age, gender, race, department, job title, work location (remote/HQ), hire date, termination date, city and state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03504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1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17920" y="1508760"/>
            <a:ext cx="384048" cy="384048"/>
          </a:xfrm>
          <a:prstGeom prst="ellipse">
            <a:avLst/>
          </a:prstGeom>
          <a:solidFill>
            <a:srgbClr val="F4A340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0020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720840" y="1508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263640" y="21031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r>
              <a:rPr lang="en-US" sz="12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data extraction, querying and KPI calculation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r>
              <a:rPr lang="en-US" sz="12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interactive dashboard and chart visualisation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PDF</a:t>
            </a:r>
            <a:r>
              <a:rPr lang="en-US" sz="12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report documentation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626364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73352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28782" y="1188720"/>
            <a:ext cx="5886436" cy="3419856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DDEBE9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wimg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510" y="1298448"/>
            <a:ext cx="56669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73352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&amp; Location 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15349" y="1188720"/>
            <a:ext cx="5913302" cy="3419856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DDEBE9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wimg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077" y="1298448"/>
            <a:ext cx="569384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73352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&amp; Job Title 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29824" y="1188720"/>
            <a:ext cx="6084352" cy="3419856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DDEBE9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wimg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552" y="1298448"/>
            <a:ext cx="586489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188720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088298"/>
          </a:xfrm>
          <a:prstGeom prst="roundRect">
            <a:avLst>
              <a:gd name="adj" fmla="val 6722"/>
            </a:avLst>
          </a:prstGeom>
          <a:solidFill>
            <a:srgbClr val="FFFFFF"/>
          </a:solidFill>
          <a:ln w="12700">
            <a:solidFill>
              <a:srgbClr val="DDEBE9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wimg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8046720" cy="88529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6060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1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82.3%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319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workforce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18,285 of 22,214 employees are currently active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26060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E3B4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4747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17.69%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3319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3,929 employees have left the company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26060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1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6364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75.25%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3319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HQ-based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 of employees work remotely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 counts every record in the HR table; Active Employees excludes anyone with a termination date on file. All splits are calculated across the full employee base.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828800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 · LINE CHART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Rate by Year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BE9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wimg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64575"/>
            <a:ext cx="4846320" cy="2214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132588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0E3B4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89320" y="1508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737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1,147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hires, in 2018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 hiring for two decades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started low in 2000 (220 hires, a partial first year), then held at roughly 1,050–1,150 per year from 2001 to 2019. The 2020 dip to 1,012 may be a slowdown or incomplete data.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906524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9065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 · DONUT CHART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Split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3258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BE9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wimg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618079"/>
            <a:ext cx="4846320" cy="270744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0E3B4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1508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737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50.8%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employees (11,288)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mix is well balanced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employees are 46.5% (10,321) and Non-Conforming employees 2.7% (605). There is no significant gender imbalance company-wide.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51076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751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 · BAR CHART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Headcount by State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BE9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wimg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30" y="1463040"/>
            <a:ext cx="4279181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132588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0E3B4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89320" y="1508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737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staff in Ohio (18,025)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dependence on one state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Pennsylvania (1,115), Illinois (868), Indiana (700), Michigan (673), Kentucky (451) and Wisconsin (382) are all minor by comparison.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51076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751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 · PIE CHART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Employees by Department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3258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BE9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wimg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715" y="1463040"/>
            <a:ext cx="4437529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0E3B4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1508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737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Engineering + Accounting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Headcount sits in two departments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has 6.69K employees (30.1%), about twice Accounting at 3.33K (15%). Sales, HR, Training, Services and Business Development hold roughly 7–8% each.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51076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751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 · BAR CHART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by Race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BE9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wimg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95" y="1463040"/>
            <a:ext cx="4295450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132588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0E3B4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89320" y="1508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737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28.5%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White, the largest group (6,328)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Reasonably diverse company-wide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Races (3,648), Black or African American (3,619) and Asian (3,562) follow closely. No group holds an overwhelming majority.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51076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751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6 · BAR CHART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Rate by Department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3258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BE9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wimg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711646"/>
            <a:ext cx="4846320" cy="25203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0E3B4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1508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737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23.1%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Auditing, highest rate*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and R&amp;D need attention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is at 20.3% and R&amp;D at 19.6%; Marketing is lowest at 14.6%. *Auditing has only 52 employees, so a few exits swing its rate sharply.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51076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751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7 · BAR CHART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Average, Minimum &amp; Maximum Age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BE9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wimg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04616"/>
            <a:ext cx="4846320" cy="19343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132588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0E3B4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89320" y="1508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737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38–39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in every department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is evenly spread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(20) and maximum (57) ages are consistent across departments, so no single team carries a disproportionate retirement risk.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188720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Summary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1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82.3% active and 17.7% have left; 75.25% HQ-based vs 24.75% remote.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1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743200" y="1463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Mix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8288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is 38 (38–39 in every department), with a 20–57 range.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1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1463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288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at 1,050–1,150 hires a year since 2001, with no growth spurt or freeze.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0" y="13258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1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49440" y="1463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18288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Balanced: 50.8% Male, 46.5% Female, 2.7% Non-Conforming.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E3B4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5661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staff are based in Ohio, a significant single-location concentration.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60320" y="30632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1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743200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35661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and Accounting hold 45% of headcount; Auditing is smallest (0.2%).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1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46320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5661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racial group exceeds 29% of the workforce.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66560" y="30632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E3B4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949440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5661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17.69% overall; Auditing, Legal and R&amp;D run highest.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188720" cy="237744"/>
          </a:xfrm>
          <a:prstGeom prst="roundRect">
            <a:avLst>
              <a:gd name="adj" fmla="val 30769"/>
            </a:avLst>
          </a:prstGeom>
          <a:solidFill>
            <a:srgbClr val="DDEB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PRDA-03 Capstone   |   Gangothri M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0E3B43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389888"/>
            <a:ext cx="384048" cy="384048"/>
          </a:xfrm>
          <a:prstGeom prst="ellipse">
            <a:avLst/>
          </a:prstGeom>
          <a:solidFill>
            <a:srgbClr val="F4A3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307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retention in Auditing, Legal and R&amp;D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 well above the 17.69% average (23.1%, 20.3%, 19.6%). Start with exit interviews and a workload and compensation review; Auditing’s rate reflects a small team of 52.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1F6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2066544"/>
            <a:ext cx="384048" cy="384048"/>
          </a:xfrm>
          <a:prstGeom prst="ellipse">
            <a:avLst/>
          </a:prstGeom>
          <a:solidFill>
            <a:srgbClr val="F4A3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9842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geographic concentration risk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staff are in Ohio. Consider broader remote hiring or a second regional hub.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1F6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2743200"/>
            <a:ext cx="384048" cy="384048"/>
          </a:xfrm>
          <a:prstGeom prst="ellipse">
            <a:avLst/>
          </a:prstGeom>
          <a:solidFill>
            <a:srgbClr val="F4A34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609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remote work options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24.75% work remotely; a pilot with wider eligibility would widen the talent pool beyond Ohio.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1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3419856"/>
            <a:ext cx="384048" cy="384048"/>
          </a:xfrm>
          <a:prstGeom prst="ellipse">
            <a:avLst/>
          </a:prstGeom>
          <a:solidFill>
            <a:srgbClr val="F4A3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37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Engineering and Accounting headcount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hold 45% of employees; confirm this matches strategic staffing plans.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86784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1F6F5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" y="4096512"/>
            <a:ext cx="384048" cy="384048"/>
          </a:xfrm>
          <a:prstGeom prst="ellipse">
            <a:avLst/>
          </a:prstGeom>
          <a:solidFill>
            <a:srgbClr val="F4A34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01421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monitoring diversity metrics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department-level slicers for gender and race to confirm balance within each team, especially Engineering and Accounting.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2651760"/>
            <a:ext cx="4572000" cy="4572000"/>
          </a:xfrm>
          <a:prstGeom prst="ellipse">
            <a:avLst/>
          </a:prstGeom>
          <a:solidFill>
            <a:srgbClr val="145A63">
              <a:alpha val="45000"/>
            </a:srgbClr>
          </a:solidFill>
          <a:ln w="12700">
            <a:solidFill>
              <a:srgbClr val="145A63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balanced workforce of 22,214 employees, with steady hiring and 17.69% attrition.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most significant findings are the heavy geographic concentration in Ohio (81% of staff) and elevated attrition in Legal and Research &amp; Development, alongside Auditing’s high rate on a small base. Reducing geographic risk and introducing targeted retention measures should be HR leadership’s highest-priority actions.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Gangothri M C  ·  PTID-CDA-SEP-26-11268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1096</Words>
  <Application>Microsoft Office PowerPoint</Application>
  <PresentationFormat>On-screen Show (16:9)</PresentationFormat>
  <Paragraphs>171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– Capstone Project (PRDA-03)</dc:title>
  <dc:subject>PptxGenJS Presentation</dc:subject>
  <dc:creator>Gangothri M C</dc:creator>
  <cp:lastModifiedBy>Admin</cp:lastModifiedBy>
  <cp:revision>3</cp:revision>
  <dcterms:created xsi:type="dcterms:W3CDTF">2026-10-01T09:28:19Z</dcterms:created>
  <dcterms:modified xsi:type="dcterms:W3CDTF">2026-10-01T10:54:53Z</dcterms:modified>
</cp:coreProperties>
</file>